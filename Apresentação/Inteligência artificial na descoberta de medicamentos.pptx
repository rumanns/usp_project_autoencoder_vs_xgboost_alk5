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qnI/cys29JxnkEKqTcjOTScTI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6AD5EF-8FA4-4E71-9E79-A8744BCA1EC7}">
  <a:tblStyle styleId="{E86AD5EF-8FA4-4E71-9E79-A8744BCA1E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Autoencoder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Acurácia</c:v>
                </c:pt>
                <c:pt idx="1">
                  <c:v>F1-Score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Planilha1!$B$2:$B$5</c:f>
              <c:numCache>
                <c:formatCode>0%</c:formatCode>
                <c:ptCount val="4"/>
                <c:pt idx="0">
                  <c:v>0.91959999999999997</c:v>
                </c:pt>
                <c:pt idx="1">
                  <c:v>0.28060000000000002</c:v>
                </c:pt>
                <c:pt idx="2">
                  <c:v>0.67</c:v>
                </c:pt>
                <c:pt idx="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25-47C8-8961-7780B4D5340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Acurácia</c:v>
                </c:pt>
                <c:pt idx="1">
                  <c:v>F1-Score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Planilha1!$C$2:$C$5</c:f>
              <c:numCache>
                <c:formatCode>0%</c:formatCode>
                <c:ptCount val="4"/>
                <c:pt idx="0">
                  <c:v>0.96430000000000005</c:v>
                </c:pt>
                <c:pt idx="1">
                  <c:v>0.8</c:v>
                </c:pt>
                <c:pt idx="2">
                  <c:v>0.89</c:v>
                </c:pt>
                <c:pt idx="3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25-47C8-8961-7780B4D53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8121088"/>
        <c:axId val="1018118688"/>
      </c:barChart>
      <c:catAx>
        <c:axId val="101812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8118688"/>
        <c:crosses val="autoZero"/>
        <c:auto val="1"/>
        <c:lblAlgn val="ctr"/>
        <c:lblOffset val="100"/>
        <c:noMultiLvlLbl val="0"/>
      </c:catAx>
      <c:valAx>
        <c:axId val="1018118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812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b9a8a875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cb9a8a875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cb9a8a875b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>
  <p:cSld name="Somente Título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14"/>
          <p:cNvSpPr txBox="1"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">
  <p:cSld name="Content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>
            <a:spLocks noGrp="1"/>
          </p:cNvSpPr>
          <p:nvPr>
            <p:ph type="pic" idx="2"/>
          </p:nvPr>
        </p:nvSpPr>
        <p:spPr>
          <a:xfrm>
            <a:off x="-28882" y="0"/>
            <a:ext cx="6115050" cy="6858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6562818" y="2752344"/>
            <a:ext cx="4837174" cy="313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2pPr>
            <a:lvl3pPr marL="1371600" lvl="2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4pPr>
            <a:lvl5pPr marL="2286000" lvl="4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6562817" y="6303963"/>
            <a:ext cx="301498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3">
  <p:cSld name="Two Content 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8200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2"/>
          </p:nvPr>
        </p:nvSpPr>
        <p:spPr>
          <a:xfrm>
            <a:off x="6219464" y="1790329"/>
            <a:ext cx="5134335" cy="411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picture">
  <p:cSld name="Title + subtitle + pictur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>
            <a:spLocks noGrp="1"/>
          </p:cNvSpPr>
          <p:nvPr>
            <p:ph type="pic" idx="2"/>
          </p:nvPr>
        </p:nvSpPr>
        <p:spPr>
          <a:xfrm flipH="1">
            <a:off x="6086167" y="-22225"/>
            <a:ext cx="6080760" cy="690245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Google Shape;34;p17"/>
          <p:cNvSpPr txBox="1"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">
  <p:cSld name="Content 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>
            <a:spLocks noGrp="1"/>
          </p:cNvSpPr>
          <p:nvPr>
            <p:ph type="pic" idx="2"/>
          </p:nvPr>
        </p:nvSpPr>
        <p:spPr>
          <a:xfrm>
            <a:off x="0" y="0"/>
            <a:ext cx="4287838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5242426" y="2286000"/>
            <a:ext cx="624165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/>
          <p:nvPr/>
        </p:nvSpPr>
        <p:spPr>
          <a:xfrm>
            <a:off x="5291586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1">
  <p:cSld name="Two Content 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8199" y="2024781"/>
            <a:ext cx="5212079" cy="413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2">
  <p:cSld name="Two Content 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838200" y="2024781"/>
            <a:ext cx="2878394" cy="413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eriod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eriod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rabicParenR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AutoNum type="alphaLcParenR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2"/>
          </p:nvPr>
        </p:nvSpPr>
        <p:spPr>
          <a:xfrm>
            <a:off x="6459795" y="2024780"/>
            <a:ext cx="4894006" cy="413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+ picture ">
  <p:cSld name="Content + picture 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838200" y="2257063"/>
            <a:ext cx="4894006" cy="3904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>
            <a:spLocks noGrp="1"/>
          </p:cNvSpPr>
          <p:nvPr>
            <p:ph type="pic" idx="2"/>
          </p:nvPr>
        </p:nvSpPr>
        <p:spPr>
          <a:xfrm>
            <a:off x="7500938" y="-22225"/>
            <a:ext cx="4714875" cy="68802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21"/>
          <p:cNvSpPr/>
          <p:nvPr/>
        </p:nvSpPr>
        <p:spPr>
          <a:xfrm>
            <a:off x="993814" y="6303963"/>
            <a:ext cx="4287186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">
  <p:cSld name="Content 3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1"/>
          </p:nvPr>
        </p:nvSpPr>
        <p:spPr>
          <a:xfrm>
            <a:off x="1362075" y="3738622"/>
            <a:ext cx="9467850" cy="252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+ table">
  <p:cSld name="Content + tab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body" idx="1"/>
          </p:nvPr>
        </p:nvSpPr>
        <p:spPr>
          <a:xfrm>
            <a:off x="896074" y="2106591"/>
            <a:ext cx="2067045" cy="363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▪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 descr="abstract imag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 amt="52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78650" y="909475"/>
            <a:ext cx="12034800" cy="1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pt-BR" b="1" dirty="0"/>
              <a:t>INTELIGÊNCIA ARTIFICIAL NA DESCOBERTA DE MEDICAMENTOS</a:t>
            </a:r>
            <a:endParaRPr b="1" dirty="0"/>
          </a:p>
        </p:txBody>
      </p:sp>
      <p:sp>
        <p:nvSpPr>
          <p:cNvPr id="84" name="Google Shape;84;p1"/>
          <p:cNvSpPr txBox="1"/>
          <p:nvPr/>
        </p:nvSpPr>
        <p:spPr>
          <a:xfrm>
            <a:off x="6848025" y="5133525"/>
            <a:ext cx="5265600" cy="16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Autor:</a:t>
            </a: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JOSÉ VALDEIR PAIVA ARAÚJO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Orientadora:</a:t>
            </a: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PROFA. DRA. PATRÍCIA RUFINO OLIVEIRA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Curso:</a:t>
            </a: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MBA EM INTELIGÊNCIA ARTIFICIAL E BIG DATA – ICMC/USP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76550" y="3030175"/>
            <a:ext cx="100389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pt-B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 de desempenho comparativo entre Redes Neurais Artificiais e XG </a:t>
            </a:r>
            <a:r>
              <a:rPr lang="pt-BR" sz="24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Boost</a:t>
            </a:r>
            <a:r>
              <a:rPr lang="pt-BR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na identificação de inibidores ALK-5 para o tratamento do câncer</a:t>
            </a:r>
            <a:endParaRPr sz="24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6562824" y="-3045"/>
            <a:ext cx="5351875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O DESAFIO DA DESCOBERTA DE MEDICAMENTOS</a:t>
            </a:r>
            <a:endParaRPr b="1"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6562825" y="1076955"/>
            <a:ext cx="4927500" cy="517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000" dirty="0"/>
              <a:t>O PROCESSO TRADICIONAL É:</a:t>
            </a:r>
            <a:endParaRPr sz="2000" dirty="0"/>
          </a:p>
          <a:p>
            <a:pPr marL="342900" lvl="0" indent="-36417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pt-BR" sz="2000" b="1" dirty="0"/>
              <a:t>LENTO:</a:t>
            </a:r>
            <a:r>
              <a:rPr lang="pt-BR" sz="2000" dirty="0"/>
              <a:t> SÓ A DESCOBERTA DE POSSÍVEIS COMPOSTOS OU CAUSADORES DA DOENÇA PODEM DEMORAR POR VOLTA DE 5 ANOS;</a:t>
            </a:r>
            <a:endParaRPr sz="2000" dirty="0"/>
          </a:p>
          <a:p>
            <a:pPr marL="342900" lvl="0" indent="-36417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pt-BR" sz="2000" b="1" dirty="0"/>
              <a:t>CARO:</a:t>
            </a:r>
            <a:r>
              <a:rPr lang="pt-BR" sz="2000" dirty="0"/>
              <a:t> PESQUISAS PODEM CHEGAR A CENTENAS DE MILHARES DE REAIS QUIÇÁ MILHÕES;</a:t>
            </a:r>
            <a:endParaRPr sz="2000" dirty="0"/>
          </a:p>
          <a:p>
            <a:pPr marL="342900" lvl="0" indent="-36417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pt-BR" sz="2000" b="1" dirty="0"/>
              <a:t>RISCOS:</a:t>
            </a:r>
            <a:r>
              <a:rPr lang="pt-BR" sz="2000" dirty="0"/>
              <a:t> COM ALTAS TAXAS DE INSUCESSO.</a:t>
            </a:r>
            <a:endParaRPr sz="2000" dirty="0"/>
          </a:p>
        </p:txBody>
      </p:sp>
      <p:pic>
        <p:nvPicPr>
          <p:cNvPr id="93" name="Google Shape;93;p2" title="reporpusing-medicines-scaled.jpg"/>
          <p:cNvPicPr preferRelativeResize="0"/>
          <p:nvPr/>
        </p:nvPicPr>
        <p:blipFill rotWithShape="1">
          <a:blip r:embed="rId3">
            <a:alphaModFix/>
          </a:blip>
          <a:srcRect l="10845" r="26642"/>
          <a:stretch/>
        </p:blipFill>
        <p:spPr>
          <a:xfrm>
            <a:off x="31591" y="-30993"/>
            <a:ext cx="6487194" cy="6919986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838200" y="1958"/>
            <a:ext cx="105156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A DESAFIO DA DESCOBERTA DE MEDICAMENTOS</a:t>
            </a:r>
            <a:endParaRPr b="1" dirty="0"/>
          </a:p>
        </p:txBody>
      </p:sp>
      <p:sp>
        <p:nvSpPr>
          <p:cNvPr id="100" name="Google Shape;100;p4"/>
          <p:cNvSpPr txBox="1">
            <a:spLocks noGrp="1"/>
          </p:cNvSpPr>
          <p:nvPr>
            <p:ph type="body" idx="1"/>
          </p:nvPr>
        </p:nvSpPr>
        <p:spPr>
          <a:xfrm>
            <a:off x="838200" y="1389649"/>
            <a:ext cx="10515600" cy="4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pt-BR" sz="2000" b="1" dirty="0"/>
              <a:t>A OPORTUNIDADE:</a:t>
            </a:r>
            <a:endParaRPr sz="2000" b="1" dirty="0"/>
          </a:p>
          <a:p>
            <a:pPr marL="0" lvl="1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pt-BR" sz="2000" dirty="0"/>
              <a:t>A INTELIGÊNCIA ARTIFICIAL (IA) EVOLUIU COMO UM “ACELERADOR" PARA OTIMIZAR A IDENTIFICAÇÃO DE COMPOSTOS PROMISSORES, REDUZINDO A DEPENDÊNCIA DE TESTES EXPERIMENTAIS EXTENSOS.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/>
              <a:t>A INSPIRAÇÃO:</a:t>
            </a:r>
            <a:endParaRPr sz="2000" dirty="0"/>
          </a:p>
          <a:p>
            <a:pPr marL="0" lvl="1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dirty="0"/>
              <a:t>O TRABALHO DA PROFESSORA PATRÍCIA RUFINO UTILIZANDO APRENDIZADO PROFUNDO PARA A IDENTIFICAÇÃO DE COMPOSTOS BIOATIVOS.</a:t>
            </a:r>
            <a:endParaRPr sz="2000" dirty="0"/>
          </a:p>
        </p:txBody>
      </p:sp>
      <p:sp>
        <p:nvSpPr>
          <p:cNvPr id="101" name="Google Shape;101;p4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ctrTitle"/>
          </p:nvPr>
        </p:nvSpPr>
        <p:spPr>
          <a:xfrm>
            <a:off x="1117600" y="4914"/>
            <a:ext cx="5066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CONTEXTO E OBJETIVOS</a:t>
            </a:r>
            <a:endParaRPr dirty="0"/>
          </a:p>
        </p:txBody>
      </p:sp>
      <p:sp>
        <p:nvSpPr>
          <p:cNvPr id="108" name="Google Shape;108;p5"/>
          <p:cNvSpPr txBox="1"/>
          <p:nvPr/>
        </p:nvSpPr>
        <p:spPr>
          <a:xfrm>
            <a:off x="1117600" y="1084914"/>
            <a:ext cx="5627400" cy="478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ALVO: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 PROTEÍNA </a:t>
            </a: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ALK-5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UM ALVO TERAPÊUTICO DE GRANDE RELEVÂNCIA NO TRATAMENTO DO CÂNCER.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PESQUISA: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QUAL MODELO DE IA É MAIS ADEQUADO PARA PREVER A ATIVIDADE BIOLÓGICA DE COMPOSTOS CONTRA A ALK-5?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GERAL: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COMPARAR O DESEMPENHO DE UM MODELO DE </a:t>
            </a: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APRENDIZADO PROFUNDO (AUTOENCODER)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COM O ALGORITMO </a:t>
            </a: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NESTA TAREFA ESPECÍFICA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17600" y="6189350"/>
            <a:ext cx="5066400" cy="66870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5" title="get-image.jpg"/>
          <p:cNvPicPr preferRelativeResize="0"/>
          <p:nvPr/>
        </p:nvPicPr>
        <p:blipFill rotWithShape="1">
          <a:blip r:embed="rId3">
            <a:alphaModFix/>
          </a:blip>
          <a:srcRect l="-7101" r="47870"/>
          <a:stretch/>
        </p:blipFill>
        <p:spPr>
          <a:xfrm>
            <a:off x="6288525" y="714727"/>
            <a:ext cx="5627400" cy="5428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5242425" y="14182"/>
            <a:ext cx="62415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DADOS E PREPARAÇÃO</a:t>
            </a:r>
            <a:endParaRPr dirty="0"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5305075" y="1094182"/>
            <a:ext cx="6178800" cy="4666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3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pt-BR" sz="2000" b="1" dirty="0"/>
              <a:t>FONTE DOS DADOS:</a:t>
            </a:r>
            <a:r>
              <a:rPr lang="pt-BR" sz="2000" dirty="0"/>
              <a:t> BASE PÚBLICA CHEMBL.</a:t>
            </a:r>
            <a:endParaRPr sz="2000" dirty="0"/>
          </a:p>
          <a:p>
            <a:pPr marL="228600" lvl="0" indent="-2413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pt-BR" sz="2000" b="1" dirty="0"/>
              <a:t>DATASET:</a:t>
            </a:r>
            <a:r>
              <a:rPr lang="pt-BR" sz="2000" dirty="0"/>
              <a:t> ~600 COMPOSTOS QUÍMICOS, CLASSIFICADOS COMO ATIVOS OU INATIVOS CONTRA ALK-5.</a:t>
            </a:r>
            <a:endParaRPr sz="2000" dirty="0"/>
          </a:p>
          <a:p>
            <a:pPr marL="228600" lvl="0" indent="-2413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pt-BR" sz="2000" b="1" dirty="0"/>
              <a:t>REPRESENTAÇÃO:</a:t>
            </a:r>
            <a:r>
              <a:rPr lang="pt-BR" sz="2000" dirty="0"/>
              <a:t> 10 DESCRITORES MOLECULARES (EX: MATS1C, PEOE_VSA1) QUE TRADUZEM AS PROPRIEDADES QUÍMICAS EM NÚMEROS.</a:t>
            </a:r>
            <a:endParaRPr sz="2000" dirty="0"/>
          </a:p>
          <a:p>
            <a:pPr marL="228600" lvl="0" indent="-2413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pt-BR" sz="2000" b="1" dirty="0"/>
              <a:t>PRÉ-PROCESSAMENTO:</a:t>
            </a:r>
            <a:r>
              <a:rPr lang="pt-BR" sz="2000" dirty="0"/>
              <a:t> LIMPEZA, NORMALIZAÇÃO (STANDARD SCALER) E DIVISÃO (70% TREINO, 15% VALIDAÇÃO, 15% TESTE).</a:t>
            </a:r>
            <a:endParaRPr dirty="0"/>
          </a:p>
        </p:txBody>
      </p:sp>
      <p:pic>
        <p:nvPicPr>
          <p:cNvPr id="118" name="Google Shape;118;p6" title="Banco-de-dados-oracle-beneficios-importancia-1.jpg"/>
          <p:cNvPicPr preferRelativeResize="0"/>
          <p:nvPr/>
        </p:nvPicPr>
        <p:blipFill rotWithShape="1">
          <a:blip r:embed="rId3">
            <a:alphaModFix/>
          </a:blip>
          <a:srcRect l="7580" r="-7580"/>
          <a:stretch/>
        </p:blipFill>
        <p:spPr>
          <a:xfrm>
            <a:off x="-595050" y="243900"/>
            <a:ext cx="6370500" cy="6370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838200" y="14069"/>
            <a:ext cx="105156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METODOLOGIA – OS MODELOS DE IA</a:t>
            </a:r>
            <a:endParaRPr dirty="0"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838199" y="1094069"/>
            <a:ext cx="5212079" cy="506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pt-BR" sz="2000" b="1" dirty="0"/>
              <a:t>MODELO 1: AUTOENCODER (REDE NEURAL PROFUNDA)</a:t>
            </a:r>
            <a:endParaRPr sz="2000" b="1" dirty="0"/>
          </a:p>
          <a:p>
            <a:pPr marL="0" lvl="1" indent="-127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b="1" dirty="0"/>
              <a:t>ARQUITETURA SIMÉTRICA:</a:t>
            </a:r>
            <a:r>
              <a:rPr lang="pt-BR" sz="2000" dirty="0"/>
              <a:t> COMPRIME OS DADOS ATÉ UM "GARGALO" (BOTTLENECK) E TENTA RECONSTRUÍ-LOS.</a:t>
            </a:r>
            <a:endParaRPr sz="2000" dirty="0"/>
          </a:p>
          <a:p>
            <a:pPr marL="0" lvl="1" indent="-127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b="1" dirty="0"/>
              <a:t>OBJETIVO:</a:t>
            </a:r>
            <a:r>
              <a:rPr lang="pt-BR" sz="2000" dirty="0"/>
              <a:t> APRENDER REPRESENTAÇÕES COMPLEXAS DOS DADOS.</a:t>
            </a:r>
            <a:endParaRPr sz="2000" b="1" dirty="0"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2"/>
          </p:nvPr>
        </p:nvSpPr>
        <p:spPr>
          <a:xfrm>
            <a:off x="6459795" y="1094070"/>
            <a:ext cx="4894006" cy="50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pt-BR" sz="2000" b="1" dirty="0"/>
              <a:t>MODELO 2: XGBOOST</a:t>
            </a:r>
            <a:r>
              <a:rPr lang="pt-BR" sz="2000" b="1" dirty="0">
                <a:solidFill>
                  <a:srgbClr val="FFFFFF"/>
                </a:solidFill>
              </a:rPr>
              <a:t> AAAAAAAAAAAAAAAAAAAAAA</a:t>
            </a:r>
            <a:endParaRPr sz="2000" b="1" dirty="0">
              <a:solidFill>
                <a:srgbClr val="FFFFFF"/>
              </a:solidFill>
            </a:endParaRPr>
          </a:p>
          <a:p>
            <a:pPr marL="0" lvl="1" indent="-127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b="1" dirty="0"/>
              <a:t>ALGORITMO DE ENSEMBLE:</a:t>
            </a:r>
            <a:r>
              <a:rPr lang="pt-BR" sz="2000" dirty="0"/>
              <a:t> BASEADO EM ÁRVORES DE DECISÃO E BOOSTING.</a:t>
            </a:r>
            <a:endParaRPr sz="2000" dirty="0"/>
          </a:p>
          <a:p>
            <a:pPr marL="0" lvl="1" indent="-127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dirty="0"/>
              <a:t>CONHECIDO POR SUA EFICIÊNCIA E ALTO DESEMPENHO COM DADOS TABULARES.</a:t>
            </a:r>
            <a:endParaRPr sz="2000" dirty="0"/>
          </a:p>
        </p:txBody>
      </p:sp>
      <p:sp>
        <p:nvSpPr>
          <p:cNvPr id="127" name="Google Shape;127;p7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838200" y="1958"/>
            <a:ext cx="105156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COMPARAÇÃO DE DESEMPENHO</a:t>
            </a:r>
            <a:endParaRPr b="1" dirty="0"/>
          </a:p>
        </p:txBody>
      </p:sp>
      <p:sp>
        <p:nvSpPr>
          <p:cNvPr id="134" name="Google Shape;134;p8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1618025" y="4901900"/>
            <a:ext cx="89559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 XGBOOST SUPEROU O AUTOENCODER EM TODAS AS MÉTRICAS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/>
          </a:p>
        </p:txBody>
      </p:sp>
      <p:graphicFrame>
        <p:nvGraphicFramePr>
          <p:cNvPr id="136" name="Google Shape;136;p8"/>
          <p:cNvGraphicFramePr/>
          <p:nvPr>
            <p:extLst>
              <p:ext uri="{D42A27DB-BD31-4B8C-83A1-F6EECF244321}">
                <p14:modId xmlns:p14="http://schemas.microsoft.com/office/powerpoint/2010/main" val="1937839889"/>
              </p:ext>
            </p:extLst>
          </p:nvPr>
        </p:nvGraphicFramePr>
        <p:xfrm>
          <a:off x="1341038" y="1479242"/>
          <a:ext cx="4430498" cy="3422658"/>
        </p:xfrm>
        <a:graphic>
          <a:graphicData uri="http://schemas.openxmlformats.org/drawingml/2006/table">
            <a:tbl>
              <a:tblPr>
                <a:noFill/>
                <a:tableStyleId>{E86AD5EF-8FA4-4E71-9E79-A8744BCA1EC7}</a:tableStyleId>
              </a:tblPr>
              <a:tblGrid>
                <a:gridCol w="1476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Métricas</a:t>
                      </a:r>
                      <a:endParaRPr sz="20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  <a:lumOff val="5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 err="1"/>
                        <a:t>Autoencoder</a:t>
                      </a:r>
                      <a:endParaRPr sz="20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  <a:lumOff val="5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 err="1"/>
                        <a:t>XGBoost</a:t>
                      </a:r>
                      <a:endParaRPr sz="20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  <a:lumOff val="5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Acurácia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0" u="none" strike="noStrike" cap="none"/>
                        <a:t>91%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96%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9145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/>
                        <a:t>Precisão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0" u="none" strike="noStrike" cap="none"/>
                        <a:t>67%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/>
                        <a:t>89%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9145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/>
                        <a:t>Recall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0" u="none" strike="noStrike" cap="none"/>
                        <a:t>18%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/>
                        <a:t>73%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9145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F1-Score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0" u="none" strike="noStrike" cap="none"/>
                        <a:t>28%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/>
                        <a:t>80%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9145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4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AUC-ROC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0" u="none" strike="noStrike" cap="none" dirty="0"/>
                        <a:t>90%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2000" b="1" u="none" strike="noStrike" cap="none" dirty="0"/>
                        <a:t>99%</a:t>
                      </a:r>
                      <a:endParaRPr sz="20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9145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9418752-0DD5-835A-CEF5-0D8D7767FF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227201"/>
              </p:ext>
            </p:extLst>
          </p:nvPr>
        </p:nvGraphicFramePr>
        <p:xfrm>
          <a:off x="5810865" y="1479243"/>
          <a:ext cx="5225340" cy="3422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cb9a8a875b_0_16" title="resultados-e-discussoes.jpg"/>
          <p:cNvPicPr preferRelativeResize="0"/>
          <p:nvPr/>
        </p:nvPicPr>
        <p:blipFill rotWithShape="1">
          <a:blip r:embed="rId3">
            <a:alphaModFix/>
          </a:blip>
          <a:srcRect l="17858" r="23702"/>
          <a:stretch/>
        </p:blipFill>
        <p:spPr>
          <a:xfrm>
            <a:off x="5674575" y="72875"/>
            <a:ext cx="6973200" cy="6712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0" name="Google Shape;150;g3cb9a8a875b_0_16"/>
          <p:cNvSpPr/>
          <p:nvPr/>
        </p:nvSpPr>
        <p:spPr>
          <a:xfrm>
            <a:off x="4123475" y="721025"/>
            <a:ext cx="2315100" cy="539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cb9a8a875b_0_16"/>
          <p:cNvSpPr txBox="1">
            <a:spLocks noGrp="1"/>
          </p:cNvSpPr>
          <p:nvPr>
            <p:ph type="title"/>
          </p:nvPr>
        </p:nvSpPr>
        <p:spPr>
          <a:xfrm>
            <a:off x="838201" y="-4224"/>
            <a:ext cx="61722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ANÁLISE DOS RESULTADOS</a:t>
            </a:r>
            <a:endParaRPr b="1" dirty="0"/>
          </a:p>
        </p:txBody>
      </p:sp>
      <p:sp>
        <p:nvSpPr>
          <p:cNvPr id="152" name="Google Shape;152;g3cb9a8a875b_0_16"/>
          <p:cNvSpPr txBox="1">
            <a:spLocks noGrp="1"/>
          </p:cNvSpPr>
          <p:nvPr>
            <p:ph type="body" idx="1"/>
          </p:nvPr>
        </p:nvSpPr>
        <p:spPr>
          <a:xfrm>
            <a:off x="838200" y="1075776"/>
            <a:ext cx="5455500" cy="508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lang="pt-BR" sz="2000" b="1" dirty="0"/>
              <a:t>POR QUE O XG BOOST FOI MELHOR?</a:t>
            </a:r>
            <a:endParaRPr sz="2000" dirty="0"/>
          </a:p>
          <a:p>
            <a:pPr marL="0" lvl="1" indent="-29844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pt-BR" sz="2000" b="1" dirty="0"/>
              <a:t>DADOS TABULARES:</a:t>
            </a:r>
            <a:r>
              <a:rPr lang="pt-BR" sz="2000" dirty="0"/>
              <a:t> É A "ESPECIALIDADE" do XG BOOST, QUE LIDA MUITO BEM COM DESCRITORES MOLECULARES.</a:t>
            </a:r>
            <a:endParaRPr sz="2000" dirty="0"/>
          </a:p>
          <a:p>
            <a:pPr marL="0" lvl="1" indent="-29844" algn="just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 b="1" dirty="0"/>
              <a:t>TAMANHO DO DATASET:</a:t>
            </a:r>
            <a:r>
              <a:rPr lang="pt-BR" sz="2000" dirty="0"/>
              <a:t> O AUTOENCODER (REDE NEURAL) PRECISA </a:t>
            </a:r>
            <a:r>
              <a:rPr lang="pt-BR" sz="2000" b="1" dirty="0"/>
              <a:t>MAIS DADOS</a:t>
            </a:r>
            <a:r>
              <a:rPr lang="pt-BR" sz="2000" dirty="0"/>
              <a:t> PARA APRENDER PADRÕES COMPLEXOS.</a:t>
            </a:r>
            <a:endParaRPr sz="2000" dirty="0"/>
          </a:p>
          <a:p>
            <a:pPr marL="0" lvl="0" indent="0" algn="just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lang="pt-BR" sz="2000" b="1" dirty="0"/>
              <a:t>IMPLICAÇÃO:</a:t>
            </a:r>
            <a:r>
              <a:rPr lang="pt-BR" sz="2000" dirty="0"/>
              <a:t> O MODELO XG BOOST, É PODEROSO PARA A TRIAGEM VIRTUAL PORQUE 9 A CADA 10 COMPOSTOS QUE ELE APONTA SÃO REALMENTE ATIVOS, ATINGINDO UMA PRECISÃO DE 90%.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0" title="img_5cbf38242e3a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08287" y="1724152"/>
            <a:ext cx="6944100" cy="5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838200" y="4021"/>
            <a:ext cx="105156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LIMITAÇÕES E TRABALHOS FUTUROS</a:t>
            </a:r>
            <a:endParaRPr dirty="0"/>
          </a:p>
        </p:txBody>
      </p:sp>
      <p:sp>
        <p:nvSpPr>
          <p:cNvPr id="160" name="Google Shape;160;p10"/>
          <p:cNvSpPr txBox="1">
            <a:spLocks noGrp="1"/>
          </p:cNvSpPr>
          <p:nvPr>
            <p:ph type="body" idx="1"/>
          </p:nvPr>
        </p:nvSpPr>
        <p:spPr>
          <a:xfrm>
            <a:off x="1217750" y="1814450"/>
            <a:ext cx="97563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rPr lang="pt-BR" sz="2000" b="1"/>
              <a:t>LIMITAÇÕES:</a:t>
            </a:r>
            <a:endParaRPr sz="2000"/>
          </a:p>
          <a:p>
            <a:pPr marL="0" lvl="1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pt-BR" sz="2000"/>
              <a:t>TAMANHO MODERADO DO DATASET.</a:t>
            </a:r>
            <a:endParaRPr/>
          </a:p>
          <a:p>
            <a:pPr marL="0" lvl="1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000"/>
              <a:buChar char="▪"/>
            </a:pPr>
            <a:r>
              <a:rPr lang="pt-BR" sz="2000"/>
              <a:t>USO EXCLUSIVO DE DESCRITORES 2D, QUE PODEM NÃO CAPTURAR TODA A COMPLEXIDADE DA INTERAÇÃO MOLECULAR.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title"/>
          </p:nvPr>
        </p:nvSpPr>
        <p:spPr>
          <a:xfrm>
            <a:off x="838200" y="1966"/>
            <a:ext cx="105156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b="1" dirty="0"/>
              <a:t>CONCLUSÃO</a:t>
            </a:r>
            <a:endParaRPr b="1" dirty="0"/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838200" y="1790329"/>
            <a:ext cx="10515600" cy="411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pt-BR" sz="2000"/>
              <a:t>PARA O CONJUNTO DE DADOS UTILIZADO, O XG BOOST É MUITO MAIS EFICAZ, COM 96% DE ACURÁCIA 99% AUC-ROC.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pt-BR" sz="2000"/>
              <a:t>A IA, INDEPENDENTEMENTE DO MODELO USADO É BASTANTE ÚTIL PARA ACELERAR A DESCOBERTA DE MEDICAMENTOS, REDUZINDO CUSTO E AUMENTANDO AS CHANCES DE SUCESSO.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pt-BR" sz="2000"/>
              <a:t>ESTE TRABALHO CONTRIBUI PARA UM FUTURO ONDE SERÁ MAIS RÁPIDO E PRÁTICO ENCONTRAR E DESENVOLVER COMPOSTOS ÚTEIS À SAÚDE.</a:t>
            </a:r>
            <a:endParaRPr sz="2000"/>
          </a:p>
        </p:txBody>
      </p:sp>
      <p:sp>
        <p:nvSpPr>
          <p:cNvPr id="169" name="Google Shape;169;p11"/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rgbClr val="E7995A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2" descr="A close up of dots&#10;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75" name="Google Shape;175;p12"/>
          <p:cNvSpPr txBox="1">
            <a:spLocks noGrp="1"/>
          </p:cNvSpPr>
          <p:nvPr>
            <p:ph type="title"/>
          </p:nvPr>
        </p:nvSpPr>
        <p:spPr>
          <a:xfrm>
            <a:off x="1362075" y="1950825"/>
            <a:ext cx="9467127" cy="115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pt-BR" b="1" dirty="0"/>
              <a:t>OBRIGADO!</a:t>
            </a:r>
            <a:endParaRPr dirty="0"/>
          </a:p>
        </p:txBody>
      </p:sp>
      <p:sp>
        <p:nvSpPr>
          <p:cNvPr id="176" name="Google Shape;176;p12"/>
          <p:cNvSpPr txBox="1">
            <a:spLocks noGrp="1"/>
          </p:cNvSpPr>
          <p:nvPr>
            <p:ph type="body" idx="1"/>
          </p:nvPr>
        </p:nvSpPr>
        <p:spPr>
          <a:xfrm>
            <a:off x="1362075" y="4907175"/>
            <a:ext cx="9467700" cy="13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pt-BR"/>
              <a:t>GitHub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pt-BR"/>
              <a:t>https://github.com/Rumanns/RedesNeurais_VS_XGboost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615</Words>
  <Application>Microsoft Office PowerPoint</Application>
  <PresentationFormat>Widescreen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Noto Sans Symbols</vt:lpstr>
      <vt:lpstr>Custom</vt:lpstr>
      <vt:lpstr>INTELIGÊNCIA ARTIFICIAL NA DESCOBERTA DE MEDICAMENTOS</vt:lpstr>
      <vt:lpstr>O DESAFIO DA DESCOBERTA DE MEDICAMENTOS</vt:lpstr>
      <vt:lpstr>A DESAFIO DA DESCOBERTA DE MEDICAMENTOS</vt:lpstr>
      <vt:lpstr>CONTEXTO E OBJETIVOS</vt:lpstr>
      <vt:lpstr>DADOS E PREPARAÇÃO</vt:lpstr>
      <vt:lpstr>METODOLOGIA – OS MODELOS DE IA</vt:lpstr>
      <vt:lpstr>COMPARAÇÃO DE DESEMPENHO</vt:lpstr>
      <vt:lpstr>ANÁLISE DOS RESULTADOS</vt:lpstr>
      <vt:lpstr>LIMITAÇÕES E TRABALHOS FUTUROS</vt:lpstr>
      <vt:lpstr>CONCLUSÃO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 Valdeir Paiva Araujo</dc:creator>
  <cp:lastModifiedBy>Jose Valdeir Paiva Araujo</cp:lastModifiedBy>
  <cp:revision>4</cp:revision>
  <dcterms:created xsi:type="dcterms:W3CDTF">2026-02-27T00:40:28Z</dcterms:created>
  <dcterms:modified xsi:type="dcterms:W3CDTF">2026-02-28T19:24:20Z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0x01010030B79A8E59A2F54088177FD939A98EE5</vt:lpwstr>
  </property>
  <property fmtid="{D5CDD505-2E9C-101B-9397-08002B2CF9AE}" pid="3" name="MediaServiceImageTags">
    <vt:lpwstr/>
  </property>
</Properties>
</file>